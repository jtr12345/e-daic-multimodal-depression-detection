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de038b9c9342bf" /><Relationship Type="http://schemas.openxmlformats.org/officeDocument/2006/relationships/extended-properties" Target="/docProps/app.xml" Id="Rf14a78e33d804206" /><Relationship Type="http://schemas.openxmlformats.org/officeDocument/2006/relationships/officeDocument" Target="/ppt/presentation.xml" Id="R4631627c8a1a4a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3485d8da24a7f"/>
  </p:sldMasterIdLst>
  <p:notesMasterIdLst>
    <p:notesMasterId xmlns:r="http://schemas.openxmlformats.org/officeDocument/2006/relationships" r:id="Rd1276cdc1b6841e0"/>
  </p:notesMasterIdLst>
  <p:sldIdLst>
    <p:sldId xmlns:r="http://schemas.openxmlformats.org/officeDocument/2006/relationships" id="256" r:id="R7b9e71f32e144fb4"/>
    <p:sldId xmlns:r="http://schemas.openxmlformats.org/officeDocument/2006/relationships" id="257" r:id="R512f9812adb6499d"/>
    <p:sldId xmlns:r="http://schemas.openxmlformats.org/officeDocument/2006/relationships" id="258" r:id="Rb2bb493e920e4801"/>
    <p:sldId xmlns:r="http://schemas.openxmlformats.org/officeDocument/2006/relationships" id="259" r:id="Ra3b3957501ec4fac"/>
    <p:sldId xmlns:r="http://schemas.openxmlformats.org/officeDocument/2006/relationships" id="260" r:id="R6c2b42327a6e4799"/>
    <p:sldId xmlns:r="http://schemas.openxmlformats.org/officeDocument/2006/relationships" id="261" r:id="Rec82ace61b3b465f"/>
    <p:sldId xmlns:r="http://schemas.openxmlformats.org/officeDocument/2006/relationships" id="262" r:id="R88194e8d56c34074"/>
    <p:sldId xmlns:r="http://schemas.openxmlformats.org/officeDocument/2006/relationships" id="263" r:id="R55c56801984b4937"/>
    <p:sldId xmlns:r="http://schemas.openxmlformats.org/officeDocument/2006/relationships" id="264" r:id="R9ab6141c934c4afc"/>
    <p:sldId xmlns:r="http://schemas.openxmlformats.org/officeDocument/2006/relationships" id="265" r:id="Rd14314d7eaf5496f"/>
    <p:sldId xmlns:r="http://schemas.openxmlformats.org/officeDocument/2006/relationships" id="266" r:id="Rb94875e70f9d45f8"/>
    <p:sldId xmlns:r="http://schemas.openxmlformats.org/officeDocument/2006/relationships" id="267" r:id="R6856085ef8d54d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dec5b81ec74102" /><Relationship Type="http://schemas.openxmlformats.org/officeDocument/2006/relationships/slideMaster" Target="/ppt/slideMasters/slideMaster1.xml" Id="Rf923485d8da24a7f" /><Relationship Type="http://schemas.openxmlformats.org/officeDocument/2006/relationships/notesMaster" Target="/ppt/notesMasters/notesMaster1.xml" Id="Rd1276cdc1b6841e0" /><Relationship Type="http://schemas.openxmlformats.org/officeDocument/2006/relationships/presProps" Target="/ppt/presProps.xml" Id="R19e14c0d62bd447a" /><Relationship Type="http://schemas.openxmlformats.org/officeDocument/2006/relationships/tableStyles" Target="/ppt/tableStyles.xml" Id="Re670a4e7c6e54111" /><Relationship Type="http://schemas.openxmlformats.org/officeDocument/2006/relationships/slide" Target="/ppt/slides/slide1.xml" Id="R7b9e71f32e144fb4" /><Relationship Type="http://schemas.openxmlformats.org/officeDocument/2006/relationships/slide" Target="/ppt/slides/slide2.xml" Id="R512f9812adb6499d" /><Relationship Type="http://schemas.openxmlformats.org/officeDocument/2006/relationships/slide" Target="/ppt/slides/slide3.xml" Id="Rb2bb493e920e4801" /><Relationship Type="http://schemas.openxmlformats.org/officeDocument/2006/relationships/slide" Target="/ppt/slides/slide4.xml" Id="Ra3b3957501ec4fac" /><Relationship Type="http://schemas.openxmlformats.org/officeDocument/2006/relationships/slide" Target="/ppt/slides/slide5.xml" Id="R6c2b42327a6e4799" /><Relationship Type="http://schemas.openxmlformats.org/officeDocument/2006/relationships/slide" Target="/ppt/slides/slide6.xml" Id="Rec82ace61b3b465f" /><Relationship Type="http://schemas.openxmlformats.org/officeDocument/2006/relationships/slide" Target="/ppt/slides/slide7.xml" Id="R88194e8d56c34074" /><Relationship Type="http://schemas.openxmlformats.org/officeDocument/2006/relationships/slide" Target="/ppt/slides/slide8.xml" Id="R55c56801984b4937" /><Relationship Type="http://schemas.openxmlformats.org/officeDocument/2006/relationships/slide" Target="/ppt/slides/slide9.xml" Id="R9ab6141c934c4afc" /><Relationship Type="http://schemas.openxmlformats.org/officeDocument/2006/relationships/slide" Target="/ppt/slides/slide10.xml" Id="Rd14314d7eaf5496f" /><Relationship Type="http://schemas.openxmlformats.org/officeDocument/2006/relationships/slide" Target="/ppt/slides/slide11.xml" Id="Rb94875e70f9d45f8" /><Relationship Type="http://schemas.openxmlformats.org/officeDocument/2006/relationships/slide" Target="/ppt/slides/slide12.xml" Id="R6856085ef8d54d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0f5c632df345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35e5e36cfb4ff5" /><Relationship Type="http://schemas.openxmlformats.org/officeDocument/2006/relationships/notesMaster" Target="/ppt/notesMasters/notesMaster1.xml" Id="Rbd2e412c1fc148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eef56032ef4a19" /><Relationship Type="http://schemas.openxmlformats.org/officeDocument/2006/relationships/notesMaster" Target="/ppt/notesMasters/notesMaster1.xml" Id="R40f38847f37740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a967b5e8b64944" /><Relationship Type="http://schemas.openxmlformats.org/officeDocument/2006/relationships/notesMaster" Target="/ppt/notesMasters/notesMaster1.xml" Id="Rbc0c93b08dab44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47fb4d95554cf0" /><Relationship Type="http://schemas.openxmlformats.org/officeDocument/2006/relationships/notesMaster" Target="/ppt/notesMasters/notesMaster1.xml" Id="R511f3564e89d4a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08096d8f244e72" /><Relationship Type="http://schemas.openxmlformats.org/officeDocument/2006/relationships/notesMaster" Target="/ppt/notesMasters/notesMaster1.xml" Id="R7d467d223b4d47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93fbe895714658" /><Relationship Type="http://schemas.openxmlformats.org/officeDocument/2006/relationships/notesMaster" Target="/ppt/notesMasters/notesMaster1.xml" Id="R42fdf54e984543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d0dda138db4327" /><Relationship Type="http://schemas.openxmlformats.org/officeDocument/2006/relationships/notesMaster" Target="/ppt/notesMasters/notesMaster1.xml" Id="R8f73e3bb677246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95141d79654aa7" /><Relationship Type="http://schemas.openxmlformats.org/officeDocument/2006/relationships/notesMaster" Target="/ppt/notesMasters/notesMaster1.xml" Id="R28239da248bb4f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69cf072acb43f5" /><Relationship Type="http://schemas.openxmlformats.org/officeDocument/2006/relationships/notesMaster" Target="/ppt/notesMasters/notesMaster1.xml" Id="Rcd0d78e232914d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0b49cfe84e4835" /><Relationship Type="http://schemas.openxmlformats.org/officeDocument/2006/relationships/notesMaster" Target="/ppt/notesMasters/notesMaster1.xml" Id="R79804bf8ed534d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f0f5a2742441b5" /><Relationship Type="http://schemas.openxmlformats.org/officeDocument/2006/relationships/notesMaster" Target="/ppt/notesMasters/notesMaster1.xml" Id="Ra1f3b0755e5649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ebd85c0c774c0e" /><Relationship Type="http://schemas.openxmlformats.org/officeDocument/2006/relationships/notesMaster" Target="/ppt/notesMasters/notesMaster1.xml" Id="Rc07a3fedffed45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数据与结果来自本项目本地 E-DAIC 实验文件。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Extended DAIC-WOZ 原始数据受 EULA 限制，只用于非商业研究，不得重新分发。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实验脚本：run_baseline_1.py 至 run_baseline_6.py，以及 run_repo_style_embeddings.py。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预训练模型来自 Hugging Face：roberta-base 与 facebook/wav2vec2-base。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数据来源：edaic_experiment/result_repo_style/metrics.json。所有数值为 275 人五折折外预测汇总。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旧版结果来自 result_6/metrics.json；预训练结果来自 result_repo_style/metrics.json。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来源：result_1/README.md 与 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来源：result_2/metrics.json 与 result_3/README.md。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来源：result_4、result_5、result_6 的 README 与 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来源：supplementary_results/ablation_mean_std.csv、bootstrap_ci.csv、official_split_final.csv。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该结论描述研究数据上的模型表现，不等同于临床诊断能力。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限制与建议来自本项目结果审计，不是对临床效能的判断。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b33b8610649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b3e58ce47f477f" /><Relationship Type="http://schemas.openxmlformats.org/officeDocument/2006/relationships/slideLayout" Target="/ppt/slideLayouts/slideLayout1.xml" Id="R0238dd8d26a343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8dd8d26a343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234e758c84c7d" /><Relationship Type="http://schemas.openxmlformats.org/officeDocument/2006/relationships/notesSlide" Target="/ppt/notesSlides/notesSlide1.xml" Id="R763a25503bfe44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394947bf54b14" /><Relationship Type="http://schemas.openxmlformats.org/officeDocument/2006/relationships/notesSlide" Target="/ppt/notesSlides/notesSlide2.xml" Id="R7e1d7468a1774d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698dc487942c0" /><Relationship Type="http://schemas.openxmlformats.org/officeDocument/2006/relationships/notesSlide" Target="/ppt/notesSlides/notesSlide3.xml" Id="R1bfac04ea5554b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e1260f01742f3" /><Relationship Type="http://schemas.openxmlformats.org/officeDocument/2006/relationships/notesSlide" Target="/ppt/notesSlides/notesSlide4.xml" Id="R72c41d8bd87048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709e067a94b54" /><Relationship Type="http://schemas.openxmlformats.org/officeDocument/2006/relationships/notesSlide" Target="/ppt/notesSlides/notesSlide5.xml" Id="R71eb49461e7948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514c650f24b22" /><Relationship Type="http://schemas.openxmlformats.org/officeDocument/2006/relationships/notesSlide" Target="/ppt/notesSlides/notesSlide6.xml" Id="R17617876eb024a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929c9141346fc" /><Relationship Type="http://schemas.openxmlformats.org/officeDocument/2006/relationships/notesSlide" Target="/ppt/notesSlides/notesSlide7.xml" Id="R06a3fdfbdfc744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5be22923c4e33" /><Relationship Type="http://schemas.openxmlformats.org/officeDocument/2006/relationships/notesSlide" Target="/ppt/notesSlides/notesSlide8.xml" Id="R1afcbbb8a06040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101cfa19a444c" /><Relationship Type="http://schemas.openxmlformats.org/officeDocument/2006/relationships/notesSlide" Target="/ppt/notesSlides/notesSlide9.xml" Id="R3ea1ad1e462441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c40c804e14a4c" /><Relationship Type="http://schemas.openxmlformats.org/officeDocument/2006/relationships/notesSlide" Target="/ppt/notesSlides/notesSlide10.xml" Id="R409afa93fd9846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8f75935d540d6" /><Relationship Type="http://schemas.openxmlformats.org/officeDocument/2006/relationships/notesSlide" Target="/ppt/notesSlides/notesSlide11.xml" Id="Rc2c3d335c5e84b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73e1ed28b47ea" /><Relationship Type="http://schemas.openxmlformats.org/officeDocument/2006/relationships/notesSlide" Target="/ppt/notesSlides/notesSlide12.xml" Id="R255a1186fcd548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95078-F6D5-4E17-8899-6FE810C5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A16FB-C4C7-44C0-A233-3EC7A447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E-DAIC 三模态抑郁识别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D79D6-3731-4F82-8D49-3EA4D307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方法比较、预训练 embedding 与阶段性结论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B7807-9DF4-43BF-89DC-5F61C7D1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A3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B59B5-6FB7-45C7-AF17-B06914BA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Extended DAIC-WOZ | 275 名参与者 | 五折参与者级验证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78FE7-823D-4860-8F7A-CF653542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研究阶段总结</a:t>
            </a:r>
          </a:p>
        </p:txBody>
      </p:sp>
    </p:spTree>
    <p:extLst>
      <p:ext uri="{BB962C8B-B14F-4D97-AF65-F5344CB8AC3E}">
        <p14:creationId xmlns:p14="http://schemas.microsoft.com/office/powerpoint/2010/main" val="1578955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E0241-8EEB-4F97-A979-84F02B60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01 研究范围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90A2B-D6E1-4CBA-9926-1F973029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研究问题与数据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9B71C-C3ED-4A56-B006-D8B682A2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22C"/>
                </a:solidFill>
                <a:latin typeface="Aptos"/>
                <a:ea typeface="Aptos"/>
                <a:cs typeface="Aptos"/>
              </a:rPr>
              <a:t>问题：文本、音频和视频信息能否帮助识别 PHQ-Binary 抑郁风险？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BB211-43A2-4A11-9767-1B506362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E91C3-376F-4574-A003-D5ED51CD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782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275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5DE04-BE2E-493B-813A-2BE28FE4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名参与者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27A66-9BE4-48F9-BB3D-9F04C5F7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F45EE-B1CF-4A27-95E5-9A1B1FEA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289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782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05197-DEEF-44A1-93DC-895D3E5D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33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文本 / 音频 / 视频模态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3BBF9-4FEE-4525-8820-CE5DBFFC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ED671-6D50-4754-B5B0-94CBA80D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782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68A35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E68A3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9D0FE-EA1E-4EC0-89F1-49CCE50C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折参与者级交叉验证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2C746-FDE0-4034-BA63-EF372A53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标签：PHQ_Binary。663 号参与者的缺失文件已补齐。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7EEA8-6588-4019-AAFE-CA7B021B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E-DAIC 多模态抑郁识别  |  2</a:t>
            </a:r>
          </a:p>
        </p:txBody>
      </p:sp>
    </p:spTree>
    <p:extLst>
      <p:ext uri="{BB962C8B-B14F-4D97-AF65-F5344CB8AC3E}">
        <p14:creationId xmlns:p14="http://schemas.microsoft.com/office/powerpoint/2010/main" val="241650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63F86-86BD-4627-9ABD-EBE71C5C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02 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594D2-E3A4-41E5-B472-C2F6F6A0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实验路线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63145-BC98-4AB8-9C9C-DDC75F15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F1506-1F93-4B5F-8683-A11C15C0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基线特征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3E44E-BC47-42F6-9478-D18ADACE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TF-IDF + SVD</a:t>
            </a:r>
          </a:p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音频统计量</a:t>
            </a:r>
          </a:p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OpenFace 统计量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BAE29-DFB7-4E04-B076-59721A68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0975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B3A15-3B3F-4E7F-AA29-A57450E4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模型比较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36B90-237C-41DE-AD4D-271B3133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955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Linear SVM</a:t>
            </a:r>
          </a:p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Random Forest</a:t>
            </a:r>
          </a:p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35AD2-B710-44C8-B9AE-1B0513EA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83F10-BDE2-44FC-827C-EA03B6EE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预训练表示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5B87B-90BB-424B-9974-0BB78799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RoBERTa 文本</a:t>
            </a:r>
          </a:p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Wav2Vec2 音频</a:t>
            </a:r>
          </a:p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OpenFace 视频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06CC6-E12A-4B22-8048-86508B68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09750"/>
            <a:ext cx="1476375" cy="152400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432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25129-7CFC-4F43-872C-51112667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最终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比较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DC936-C04C-4AD2-8F17-7C56DDFF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22C"/>
                </a:solidFill>
                <a:latin typeface="Aptos"/>
                <a:ea typeface="Aptos"/>
                <a:cs typeface="Aptos"/>
              </a:rPr>
              <a:t>所有五折实验都以参与者为划分单位，避免同一个人的片段同时进入训练和验证。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26485-35B3-4123-B346-0659456F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E-DAIC 多模态抑郁识别  |  3</a:t>
            </a:r>
          </a:p>
        </p:txBody>
      </p:sp>
    </p:spTree>
    <p:extLst>
      <p:ext uri="{BB962C8B-B14F-4D97-AF65-F5344CB8AC3E}">
        <p14:creationId xmlns:p14="http://schemas.microsoft.com/office/powerpoint/2010/main" val="104603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B0F21-399F-4CDE-B417-E9959C6E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03 特征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2C08A-B44E-4990-9155-3FB70D57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三种模态回答不同问题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A6B1B-CA34-41B7-B540-8718207E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文本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3DFFF-8200-4138-A3BD-1C5A2DA8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语言内容和表达方式</a:t>
            </a:r>
          </a:p>
          <a:p xmlns:a="http://schemas.openxmlformats.org/drawingml/2006/main">
            <a:pPr>
              <a:defRPr sz="16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RoBERTa-base：768 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17B16-58A8-47E0-A6BE-7907C0F6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19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音频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6A50E-683B-433F-A306-5CDB209A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语音信号和韵律</a:t>
            </a:r>
          </a:p>
          <a:p xmlns:a="http://schemas.openxmlformats.org/drawingml/2006/main">
            <a:pPr>
              <a:defRPr sz="16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Wav2Vec2-base：768 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E67BE-27A7-463E-A18F-83150C63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68A3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68A35"/>
                </a:solidFill>
                <a:latin typeface="Aptos"/>
                <a:ea typeface="Aptos"/>
                <a:cs typeface="Aptos"/>
              </a:rPr>
              <a:t>视频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0DEC6-04D0-47F4-8BA3-8A13B890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面部动作、头部姿态和视线</a:t>
            </a:r>
          </a:p>
          <a:p xmlns:a="http://schemas.openxmlformats.org/drawingml/2006/main">
            <a:pPr>
              <a:defRPr sz="16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OpenFace 统计特征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F6A1B-0CFB-4B03-AD2D-8DB6AFA8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990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DE997-960F-4F3C-B717-55E2542F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685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B54BE-DCC9-4AAA-83BC-502C3E10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在本数据集上，文本信息的区分能力最强。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E55D8-A993-41C9-BAE5-ED121CE2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E-DAIC 多模态抑郁识别  |  4</a:t>
            </a:r>
          </a:p>
        </p:txBody>
      </p:sp>
    </p:spTree>
    <p:extLst>
      <p:ext uri="{BB962C8B-B14F-4D97-AF65-F5344CB8AC3E}">
        <p14:creationId xmlns:p14="http://schemas.microsoft.com/office/powerpoint/2010/main" val="896463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360E68-73C2-4B00-9F47-2B00198E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04 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D6332-9128-41FD-91DB-1A5B8E2A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预训练 embedding 的五折结果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966A8-F3ED-458D-BCDD-18B88D33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3C8A5-23F2-4709-837A-0829F0E3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A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8A35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C5A65-29CA-454A-9BAF-F32EE99E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22C"/>
                </a:solidFill>
                <a:latin typeface="Aptos"/>
                <a:ea typeface="Aptos"/>
                <a:cs typeface="Aptos"/>
              </a:rPr>
              <a:t>RoBERTa 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EB119-6AE7-43A3-9BB7-B557D6E3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402717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EB916-D87C-4C0C-AD56-D4BC3D39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3824478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68A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9A8BB-5D9A-4D23-B8B6-73E32B4E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98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0.755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7AA27-EE67-4928-9EA5-3DB2E884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14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A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8A35"/>
                </a:solidFill>
                <a:latin typeface="Aptos"/>
                <a:ea typeface="Aptos"/>
                <a:cs typeface="Aptos"/>
              </a:rPr>
              <a:t>0.717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CE20A-8D90-474A-9A9E-D7287BAA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22C"/>
                </a:solidFill>
                <a:latin typeface="Aptos"/>
                <a:ea typeface="Aptos"/>
                <a:cs typeface="Aptos"/>
              </a:rPr>
              <a:t>Wav2Vec2 音频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E9F42-7F23-4F8B-830A-1B803C50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3269742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3D572-7E0C-4506-8F51-78738861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76625"/>
            <a:ext cx="3376422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68A3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95E35-64D7-477D-9687-A34FAB0E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0.613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E1A1A-ADAB-407F-9A07-3D456DD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29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A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8A35"/>
                </a:solidFill>
                <a:latin typeface="Aptos"/>
                <a:ea typeface="Aptos"/>
                <a:cs typeface="Aptos"/>
              </a:rPr>
              <a:t>0.633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CA13D-15D6-4353-9F30-947054D3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22C"/>
                </a:solidFill>
                <a:latin typeface="Aptos"/>
                <a:ea typeface="Aptos"/>
                <a:cs typeface="Aptos"/>
              </a:rPr>
              <a:t>OpenFace 视频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8CA1B-6F6B-41A0-B6A0-50C45F30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2997708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DC7EF-EE19-47D3-9432-0DF5A261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3099054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68A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C1A4B-812C-4E2F-8025-8A0D1465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385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0.562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C75EF-C288-4242-8DC5-619D4882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4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A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8A35"/>
                </a:solidFill>
                <a:latin typeface="Aptos"/>
                <a:ea typeface="Aptos"/>
                <a:cs typeface="Aptos"/>
              </a:rPr>
              <a:t>0.581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726C7-62F2-4819-8525-003622F0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22C"/>
                </a:solidFill>
                <a:latin typeface="Aptos"/>
                <a:ea typeface="Aptos"/>
                <a:cs typeface="Aptos"/>
              </a:rPr>
              <a:t>三模态 Early Fusion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39B62-08D9-45DF-AFB0-12D2045D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00575"/>
            <a:ext cx="4048506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EA1AB2-0706-45A5-99CA-CE209B5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05375"/>
            <a:ext cx="3845814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68A3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EC411-1FE9-4630-865A-85A17A00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0.759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457585-CFF9-4665-9C34-26AC179C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A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8A35"/>
                </a:solidFill>
                <a:latin typeface="Aptos"/>
                <a:ea typeface="Aptos"/>
                <a:cs typeface="Aptos"/>
              </a:rPr>
              <a:t>0.721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85968-9805-41D6-AA9B-2E65C6F1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最高 AUROC：三模态 Early Fusion + Logistic Regression = 0.759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B9450-3D0C-4DEE-81EF-35788E34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E-DAIC 多模态抑郁识别  |  5</a:t>
            </a:r>
          </a:p>
        </p:txBody>
      </p:sp>
    </p:spTree>
    <p:extLst>
      <p:ext uri="{BB962C8B-B14F-4D97-AF65-F5344CB8AC3E}">
        <p14:creationId xmlns:p14="http://schemas.microsoft.com/office/powerpoint/2010/main" val="2140780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CDC12-6D50-45C7-B33F-68BD80A2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05 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174CE-47D6-416B-BE59-6669BF88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与旧基线相比，预训练文本表示更强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632F9-84E7-4116-B502-31727159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指标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63CA5-52EA-4F07-8049-98596FC9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旧版 result_6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667F8-84C5-4B10-BB92-D88711DB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预训练 embedding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4BD2A-5B4A-4F51-A6A9-242D0C08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EE883-90B7-4E25-8C30-04928409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22C"/>
                </a:solidFill>
                <a:latin typeface="Aptos"/>
                <a:ea typeface="Aptos"/>
                <a:cs typeface="Aptos"/>
              </a:rPr>
              <a:t>文本 AUROC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51C3A-CC3E-4440-8397-F23564B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0.710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6F9DD-9118-47D2-ACF8-EACBB0DD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0.755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7F10D-E039-442F-B1DD-0CBD4358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5D31E-D2D6-4E6D-99E4-859E1524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22C"/>
                </a:solidFill>
                <a:latin typeface="Aptos"/>
                <a:ea typeface="Aptos"/>
                <a:cs typeface="Aptos"/>
              </a:rPr>
              <a:t>文本 Macro-F1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C29F6-D726-4292-804D-2FBAE2D2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0.432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0BF85-F704-4118-977B-431F5A9A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0.655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44B71-72F2-48B3-B212-7E623B6A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61A33-9427-4E5E-8717-CF5F1BE4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433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22C"/>
                </a:solidFill>
                <a:latin typeface="Aptos"/>
                <a:ea typeface="Aptos"/>
                <a:cs typeface="Aptos"/>
              </a:rPr>
              <a:t>三模态 AUROC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CBFBA-F5FA-410C-AFEF-2B8115F9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0.609（等权晚期）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A68C9-B5F8-4B27-8D92-EC3DE5F1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0.759（Early Fusion）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5D1A4-181E-4BEB-A031-AD319B0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解读：收益主要来自更强的文本表示；视频单独贡献仍然有限。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18398-5073-4EFF-84A7-B1405F02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E-DAIC 多模态抑郁识别  |  6</a:t>
            </a:r>
          </a:p>
        </p:txBody>
      </p:sp>
    </p:spTree>
    <p:extLst>
      <p:ext uri="{BB962C8B-B14F-4D97-AF65-F5344CB8AC3E}">
        <p14:creationId xmlns:p14="http://schemas.microsoft.com/office/powerpoint/2010/main" val="1616778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CCD6B-6108-4D20-9BE7-B7230A9D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06 版本演进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694C3-C49F-4E0E-A167-BB35F16F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版本 1：官方划分基线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CF3BC-115F-421D-A07D-88AF9872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4BE2F-65E0-4E51-AC37-C405A017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官方 train/dev/test；TF-IDF/SVD、OpenSMILE、OpenFace；单模态、Early Fusion、Late Fusion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68DBB-5411-4F32-B93E-5E2A8EBA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Test Macro-F1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E1CD4-E857-4036-91B3-F79ADBE3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Test AUROC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DE20F-36B3-4C15-B781-5E57EEE6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Early Fusion  0.666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2899A-9F3E-4B6A-9779-4ACEAE04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Late Fusion  0.769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67BB0-6647-40C2-BC02-E6E628F8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结论：Late Fusion 的排序能力最高，但单次官方 test split 不能代表稳定泛化。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DD50A-76C5-4F25-A4F1-232F9E5B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E-DAIC 多模态抑郁识别  |  7</a:t>
            </a:r>
          </a:p>
        </p:txBody>
      </p:sp>
    </p:spTree>
    <p:extLst>
      <p:ext uri="{BB962C8B-B14F-4D97-AF65-F5344CB8AC3E}">
        <p14:creationId xmlns:p14="http://schemas.microsoft.com/office/powerpoint/2010/main" val="497768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1D306-614A-492D-81AB-16115C19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07 版本演进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AFF41-F14D-4BDB-864D-7827AA10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版本 2 至 3：从固定参数到内层调参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207BA-8C08-41D7-95B9-6DFF9A73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878B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878B5"/>
                </a:solidFill>
                <a:latin typeface="Aptos"/>
                <a:ea typeface="Aptos"/>
                <a:cs typeface="Aptos"/>
              </a:rPr>
              <a:t>result_2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10224-CD37-492D-B5DF-58334529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五折参与者级验证，固定 Logistic Regression C=1。文本 AUROC 0.706，Late Fusion AUROC 0.605。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9B2E9-7737-4DCD-B5E0-C74FAC31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8A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68A35"/>
                </a:solidFill>
                <a:latin typeface="Aptos"/>
                <a:ea typeface="Aptos"/>
                <a:cs typeface="Aptos"/>
              </a:rPr>
              <a:t>result_3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200CD-2EBC-49E1-A612-ABDD45B4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每个外层训练折内部再做 3 折选择 C。文本 AUROC 降到 0.631，Late Fusion 降到 0.560。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9396A-A24B-49CB-A5B5-360B49D6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90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E4378-A72A-45AF-8621-17BF18E8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695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A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DF976-99C9-4134-8919-5EF7A3DF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结论：小样本内层调参方差较大，不能保证泛化提升。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649D8-8E47-458D-946B-48A00C8A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E-DAIC 多模态抑郁识别  |  8</a:t>
            </a:r>
          </a:p>
        </p:txBody>
      </p:sp>
    </p:spTree>
    <p:extLst>
      <p:ext uri="{BB962C8B-B14F-4D97-AF65-F5344CB8AC3E}">
        <p14:creationId xmlns:p14="http://schemas.microsoft.com/office/powerpoint/2010/main" val="1076236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69BC2-81AC-4E1E-94F7-5CAB98B4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08 版本演进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E1FD9-4F12-4AF7-B878-C68144B7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版本 4 至 6：模型、阈值与融合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CC2CA-BB3B-4291-AB8B-441A82A8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DB1FF-C2D1-4370-BC7E-C882C193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关键方法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6B3E7-3901-4B58-AB68-AA78E6A4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主要发现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CCDD2-28B0-4EAA-A3E4-3A9A60C4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10382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AA9C2-DA5F-4855-BFFC-D2AA9B98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result_4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66600-DBB5-435A-993D-7EA20367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Linear SVM / Random Forest / XGBoost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AB274-38D7-4B42-993D-686AF6B2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Text + Linear SVM 最强，F1 0.668，AUROC 0.714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AC222-5673-41FB-B2C1-3D701EB6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28950"/>
            <a:ext cx="10382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4CBFA-97B7-4A19-8A8A-14609EBB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result_5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ADFF9-E17E-4497-8DDB-8802F6C1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训练折内选择分类阈值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BA277-E55C-4508-9F35-0DF5BD69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只改善部分 F1，不改变 AUROC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5981B-536B-4EDC-9A91-AC9F0C72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71950"/>
            <a:ext cx="10382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9C2B1-7B62-46FB-9FD0-C6171F9E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81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result_6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28CBC-7283-4E16-93B6-4CC42B25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概率校准 + 21 组晚期权重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F5F59-36CA-4503-91A2-8996E0B7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Weighted F1 0.571，但 AUROC 降至 0.534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1C9BB-149B-4464-9D31-C7B30CBD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结论：传统统计特征上，线性模型比复杂树模型更稳；融合权重提高 F1 不代表提高 AUROC。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303B7-7BBD-4E8B-9298-857CBE97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E-DAIC 多模态抑郁识别  |  9</a:t>
            </a:r>
          </a:p>
        </p:txBody>
      </p:sp>
    </p:spTree>
    <p:extLst>
      <p:ext uri="{BB962C8B-B14F-4D97-AF65-F5344CB8AC3E}">
        <p14:creationId xmlns:p14="http://schemas.microsoft.com/office/powerpoint/2010/main" val="11478932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36FD6C-7469-4E6A-9FD3-7E9815ED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10 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D0338-63BE-4A23-9B74-D4A75BBD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补充分析：视频没有稳定增益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A571E-1F51-4CCA-88CA-C418451B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组合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E3B6C-41A5-46FE-BB4C-9CA417D3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LR 五折 AUROC 均值±标准差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EA212-8FB6-40B0-8795-8228E67A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6FFA1-E96E-4989-8109-A2247231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A8D13-8673-4E53-914E-C9A8D5E7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38EDC-ED0E-484B-BAB9-17C3FD4C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0.755±0.103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425D5-9BBD-4087-A4B9-2E4ACA25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最强单模态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23A8A-F9A6-46F9-82A8-26C1FADE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00325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230F3-36ED-40B9-93AE-69BE0C13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Text +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FEA79-5B4C-4460-8DC8-49F2F24E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0.757±0.072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9CB4F-453B-44AA-B56B-00A2A82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当前推荐候选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8169A-CD67-49A0-80D0-F357C75C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8075A-E8A5-491E-9D44-F2090819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Text + Video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263B4-1D15-430D-B7D4-D8C85034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0.753±0.106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70531-DA5A-4DB1-A7F1-FD8AB5FF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视频未增加稳定收益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E5139-6008-4912-888D-F3844D47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86225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DB6F9-F040-4F89-A032-AAF29764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Text + Audio + Video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1945C-AEF6-485A-A293-FBE83AD8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0.757±0.102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4A597-5985-4FBA-B5DC-9A95E7E5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与 TA 接近，区间重叠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9E324-6DAB-4ECE-9391-14DBFEE8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官方 test split：三模态 Logistic Regression AUROC 0.768；XGBoost 0.712。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3BE97-54B7-452A-945D-833DFDB3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E-DAIC 多模态抑郁识别  |  10</a:t>
            </a:r>
          </a:p>
        </p:txBody>
      </p:sp>
    </p:spTree>
    <p:extLst>
      <p:ext uri="{BB962C8B-B14F-4D97-AF65-F5344CB8AC3E}">
        <p14:creationId xmlns:p14="http://schemas.microsoft.com/office/powerpoint/2010/main" val="1035235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23FF8-925D-44E5-8FA3-7493F598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11 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1FB10-2BAB-432B-8ECD-5AC82111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阶段性结论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F6850-BECD-4DBC-94B6-3B6C087E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4D30D-5BD1-4AF5-AFCD-215FB399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62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E4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9E4D8"/>
                </a:solidFill>
                <a:latin typeface="Aptos"/>
                <a:ea typeface="Aptos"/>
                <a:cs typeface="Aptos"/>
              </a:rPr>
              <a:t>当前最可靠的研究结论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FF6DA-9EFB-4C97-B0A8-07420A23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43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RoBERTa 文本是最强单模态；三模态 Early Fusion 的 Logistic Regression 达到 AUROC 0.759。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1FAD2-076E-48C6-B6A5-C1010DA2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当前项目可以结束第一阶段实验，形成课程项目或研究预研报告。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16135-7C40-4C5C-BB91-6601315C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适合的定位：</a:t>
            </a:r>
          </a:p>
          <a:p xmlns:a="http://schemas.openxmlformats.org/drawingml/2006/main">
            <a:pPr>
              <a:defRPr sz="1800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基于 E-DAIC 的多模态抑郁识别方法比较与预研实验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1DA77-0936-4101-B0B0-72C50420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E-DAIC 多模态抑郁识别  |  11</a:t>
            </a:r>
          </a:p>
        </p:txBody>
      </p:sp>
    </p:spTree>
    <p:extLst>
      <p:ext uri="{BB962C8B-B14F-4D97-AF65-F5344CB8AC3E}">
        <p14:creationId xmlns:p14="http://schemas.microsoft.com/office/powerpoint/2010/main" val="9352038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F59CF-31C4-46EB-B7F1-000D0C69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12 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1E12D-1FDB-4308-9212-E65B1985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结束前还应补充的内容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95E03-104F-490F-9CAA-2FDF11A9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报告中必须写清楚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36A1D-19DB-41C0-A3A8-C6F8C5E9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• 五折结果的均值、标准差和置信区间</a:t>
            </a:r>
          </a:p>
          <a:p xmlns:a="http://schemas.openxmlformats.org/drawingml/2006/main">
            <a:pPr>
              <a:defRPr sz="157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• 最终模型和最终评估方案</a:t>
            </a:r>
          </a:p>
          <a:p xmlns:a="http://schemas.openxmlformats.org/drawingml/2006/main">
            <a:pPr>
              <a:defRPr sz="157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• 模型版本、随机种子和数据划分</a:t>
            </a:r>
          </a:p>
          <a:p xmlns:a="http://schemas.openxmlformats.org/drawingml/2006/main">
            <a:pPr>
              <a:defRPr sz="157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• E-DAIC EULA 与受试者隐私要求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DBEF7-6AF2-4A82-8C72-63C64887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324A"/>
                </a:solidFill>
                <a:latin typeface="Aptos"/>
                <a:ea typeface="Aptos"/>
                <a:cs typeface="Aptos"/>
              </a:rPr>
              <a:t>如果目标是发表论文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2A669-DD11-4B34-8A58-1DEFC367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• 外部数据验证</a:t>
            </a:r>
          </a:p>
          <a:p xmlns:a="http://schemas.openxmlformats.org/drawingml/2006/main">
            <a:pPr>
              <a:defRPr sz="157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• 模态消融和统计显著性检验</a:t>
            </a:r>
          </a:p>
          <a:p xmlns:a="http://schemas.openxmlformats.org/drawingml/2006/main">
            <a:pPr>
              <a:defRPr sz="157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• 官方 test split 的一次性最终测试</a:t>
            </a:r>
          </a:p>
          <a:p xmlns:a="http://schemas.openxmlformats.org/drawingml/2006/main">
            <a:pPr>
              <a:defRPr sz="1575" b="0">
                <a:solidFill>
                  <a:srgbClr val="1822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22C"/>
                </a:solidFill>
                <a:latin typeface="Aptos"/>
                <a:ea typeface="Aptos"/>
                <a:cs typeface="Aptos"/>
              </a:rPr>
              <a:t>• 不把模型结果写成临床诊断结论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E5A87-1C60-4DBC-A5A0-B397D90D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10239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A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1CC5D-C902-4AEC-96FE-88BCF9F1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下一步优先级：先固定最终方案，再补充不确定性和模态消融。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496D9-E846-482B-A20D-235F091F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E-DAIC 多模态抑郁识别  |  12</a:t>
            </a:r>
          </a:p>
        </p:txBody>
      </p:sp>
    </p:spTree>
    <p:extLst>
      <p:ext uri="{BB962C8B-B14F-4D97-AF65-F5344CB8AC3E}">
        <p14:creationId xmlns:p14="http://schemas.microsoft.com/office/powerpoint/2010/main" val="1496590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2026-10-04T09:21:14.2430000Z</dcterms:created>
  <dcterms:modified xsi:type="dcterms:W3CDTF">2026-10-04T09:21:14.2430000Z</dcterms:modified>
</coreProperties>
</file>